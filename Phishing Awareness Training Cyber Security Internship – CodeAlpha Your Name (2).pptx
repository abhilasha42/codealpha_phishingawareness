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heddar" charset="1" panose="00000000000000000000"/>
      <p:regular r:id="rId17"/>
    </p:embeddedFont>
    <p:embeddedFont>
      <p:font typeface="Roboto" charset="1" panose="02000000000000000000"/>
      <p:regular r:id="rId18"/>
    </p:embeddedFont>
    <p:embeddedFont>
      <p:font typeface="Roboto Bold" charset="1" panose="02000000000000000000"/>
      <p:regular r:id="rId19"/>
    </p:embeddedFont>
    <p:embeddedFont>
      <p:font typeface="Roboto Condensed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17" r="0" b="-606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68949" y="1028700"/>
            <a:ext cx="14350102" cy="7964307"/>
          </a:xfrm>
          <a:custGeom>
            <a:avLst/>
            <a:gdLst/>
            <a:ahLst/>
            <a:cxnLst/>
            <a:rect r="r" b="b" t="t" l="l"/>
            <a:pathLst>
              <a:path h="7964307" w="14350102">
                <a:moveTo>
                  <a:pt x="0" y="0"/>
                </a:moveTo>
                <a:lnTo>
                  <a:pt x="14350102" y="0"/>
                </a:lnTo>
                <a:lnTo>
                  <a:pt x="14350102" y="7964307"/>
                </a:lnTo>
                <a:lnTo>
                  <a:pt x="0" y="7964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9493" y="3464949"/>
            <a:ext cx="3857812" cy="8001730"/>
          </a:xfrm>
          <a:custGeom>
            <a:avLst/>
            <a:gdLst/>
            <a:ahLst/>
            <a:cxnLst/>
            <a:rect r="r" b="b" t="t" l="l"/>
            <a:pathLst>
              <a:path h="8001730" w="3857812">
                <a:moveTo>
                  <a:pt x="0" y="0"/>
                </a:moveTo>
                <a:lnTo>
                  <a:pt x="3857813" y="0"/>
                </a:lnTo>
                <a:lnTo>
                  <a:pt x="3857813" y="8001730"/>
                </a:lnTo>
                <a:lnTo>
                  <a:pt x="0" y="8001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20694" y="5815348"/>
            <a:ext cx="3857812" cy="8001730"/>
          </a:xfrm>
          <a:custGeom>
            <a:avLst/>
            <a:gdLst/>
            <a:ahLst/>
            <a:cxnLst/>
            <a:rect r="r" b="b" t="t" l="l"/>
            <a:pathLst>
              <a:path h="8001730" w="3857812">
                <a:moveTo>
                  <a:pt x="3857813" y="0"/>
                </a:moveTo>
                <a:lnTo>
                  <a:pt x="0" y="0"/>
                </a:lnTo>
                <a:lnTo>
                  <a:pt x="0" y="8001731"/>
                </a:lnTo>
                <a:lnTo>
                  <a:pt x="3857813" y="8001731"/>
                </a:lnTo>
                <a:lnTo>
                  <a:pt x="385781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9493" y="1028700"/>
            <a:ext cx="6453274" cy="5176063"/>
          </a:xfrm>
          <a:custGeom>
            <a:avLst/>
            <a:gdLst/>
            <a:ahLst/>
            <a:cxnLst/>
            <a:rect r="r" b="b" t="t" l="l"/>
            <a:pathLst>
              <a:path h="5176063" w="6453274">
                <a:moveTo>
                  <a:pt x="0" y="0"/>
                </a:moveTo>
                <a:lnTo>
                  <a:pt x="6453274" y="0"/>
                </a:lnTo>
                <a:lnTo>
                  <a:pt x="6453274" y="5176063"/>
                </a:lnTo>
                <a:lnTo>
                  <a:pt x="0" y="51760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25233" y="3227317"/>
            <a:ext cx="6453274" cy="5176063"/>
          </a:xfrm>
          <a:custGeom>
            <a:avLst/>
            <a:gdLst/>
            <a:ahLst/>
            <a:cxnLst/>
            <a:rect r="r" b="b" t="t" l="l"/>
            <a:pathLst>
              <a:path h="5176063" w="6453274">
                <a:moveTo>
                  <a:pt x="0" y="0"/>
                </a:moveTo>
                <a:lnTo>
                  <a:pt x="6453274" y="0"/>
                </a:lnTo>
                <a:lnTo>
                  <a:pt x="6453274" y="5176063"/>
                </a:lnTo>
                <a:lnTo>
                  <a:pt x="0" y="51760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82115" y="2651557"/>
            <a:ext cx="7480399" cy="292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spc="-157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CYBER SECURITY INTERNSHIP – CODEALPHA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spc="-157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ABHILASHA THAKUR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8949" y="2095340"/>
            <a:ext cx="14350102" cy="136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4"/>
              </a:lnSpc>
              <a:spcBef>
                <a:spcPct val="0"/>
              </a:spcBef>
            </a:pPr>
            <a:r>
              <a:rPr lang="en-US" sz="7203" spc="-252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PHISHING AWARENESS TRAINING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66908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67959" y="2536367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WHA</a:t>
            </a:r>
            <a:r>
              <a:rPr lang="en-US" sz="7203" spc="-252" strike="noStrike" u="none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T IS PHISHING?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67959" y="3820951"/>
            <a:ext cx="8572774" cy="33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Phi</a:t>
            </a: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shing is a cyber attack where attackers pretend to be a trusted source 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(such as a bank, company, or website) to trick users into sharing sensitive information.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This information may include: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Passwords  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OTPs  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Bank details  </a:t>
            </a:r>
          </a:p>
          <a:p>
            <a:pPr algn="just" marL="0" indent="0" lvl="1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 usually happens through fake emails, messages, or websites that look real but are actually fraudulent.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61146" y="1203001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20333" y="2380945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TYPES OF PHISHING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62798" y="3736214"/>
            <a:ext cx="8847409" cy="231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Email Phishing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SMS Phishing (Smishing)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Voice Phishing (Vishing)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</a:p>
          <a:p>
            <a:pPr algn="just" marL="0" indent="0" lvl="1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Fake Websites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32843" y="3789181"/>
            <a:ext cx="7331510" cy="4788125"/>
          </a:xfrm>
          <a:custGeom>
            <a:avLst/>
            <a:gdLst/>
            <a:ahLst/>
            <a:cxnLst/>
            <a:rect r="r" b="b" t="t" l="l"/>
            <a:pathLst>
              <a:path h="4788125" w="7331510">
                <a:moveTo>
                  <a:pt x="0" y="0"/>
                </a:moveTo>
                <a:lnTo>
                  <a:pt x="7331510" y="0"/>
                </a:lnTo>
                <a:lnTo>
                  <a:pt x="7331510" y="4788124"/>
                </a:lnTo>
                <a:lnTo>
                  <a:pt x="0" y="47881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01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99413" y="2066505"/>
            <a:ext cx="7291946" cy="172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EXAMPLE OF PHISHING EMAIL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99413" y="4095759"/>
            <a:ext cx="8847409" cy="264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"Your account will be blocked! Click here to verify."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Why it is phishing: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Creates fear and urgency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Contains fake link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</a:p>
          <a:p>
            <a:pPr algn="just" marL="0" indent="0" lvl="1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Tries to steal your information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99413" y="2066505"/>
            <a:ext cx="7291946" cy="172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HOW TO IDENTIFY PHISHING EMAILS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13320" y="4243097"/>
            <a:ext cx="8619594" cy="231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Check sender email carefully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Look for spelling mistakes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Avoid clicking unknown links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</a:p>
          <a:p>
            <a:pPr algn="just" marL="0" indent="0" lvl="1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Urgent messages are suspicious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2104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05175" y="2287416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SOCIAL ENGINEERING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96786" y="3348737"/>
            <a:ext cx="9199469" cy="430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Social</a:t>
            </a: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Engineering is a technique used by attackers to manipulate people into revealing confidential information.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Instead of hacking systems, attackers target human behavior by creating: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Fear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Urgency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Trust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"I am calling from your bank. Please share your OTP to verify your account."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</a:p>
          <a:p>
            <a:pPr algn="just" marL="0" indent="0" lvl="1">
              <a:lnSpc>
                <a:spcPts val="2655"/>
              </a:lnSpc>
              <a:spcBef>
                <a:spcPct val="0"/>
              </a:spcBef>
            </a:pPr>
            <a:r>
              <a:rPr lang="en-US" sz="18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This tricks users into giving sensitive information like passwords, OTPs, or bank details.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044" y="4147617"/>
            <a:ext cx="7659061" cy="5110683"/>
          </a:xfrm>
          <a:custGeom>
            <a:avLst/>
            <a:gdLst/>
            <a:ahLst/>
            <a:cxnLst/>
            <a:rect r="r" b="b" t="t" l="l"/>
            <a:pathLst>
              <a:path h="5110683" w="7659061">
                <a:moveTo>
                  <a:pt x="0" y="0"/>
                </a:moveTo>
                <a:lnTo>
                  <a:pt x="7659061" y="0"/>
                </a:lnTo>
                <a:lnTo>
                  <a:pt x="7659061" y="5110683"/>
                </a:lnTo>
                <a:lnTo>
                  <a:pt x="0" y="5110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67547" y="4152350"/>
            <a:ext cx="7227995" cy="5105950"/>
          </a:xfrm>
          <a:custGeom>
            <a:avLst/>
            <a:gdLst/>
            <a:ahLst/>
            <a:cxnLst/>
            <a:rect r="r" b="b" t="t" l="l"/>
            <a:pathLst>
              <a:path h="5105950" w="7227995">
                <a:moveTo>
                  <a:pt x="0" y="0"/>
                </a:moveTo>
                <a:lnTo>
                  <a:pt x="7227995" y="0"/>
                </a:lnTo>
                <a:lnTo>
                  <a:pt x="7227995" y="5105950"/>
                </a:lnTo>
                <a:lnTo>
                  <a:pt x="0" y="5105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2" t="0" r="-2932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98027" y="1143000"/>
            <a:ext cx="7291946" cy="97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REAL-WORLD EXAMPLES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5387" y="2943228"/>
            <a:ext cx="16243913" cy="38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75"/>
              </a:lnSpc>
              <a:spcBef>
                <a:spcPct val="0"/>
              </a:spcBef>
            </a:pPr>
            <a:r>
              <a:rPr lang="en-US" sz="21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Fake Login                                                                                                                                 Phishing Attack            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85788" y="5143500"/>
            <a:ext cx="9161040" cy="4156822"/>
          </a:xfrm>
          <a:custGeom>
            <a:avLst/>
            <a:gdLst/>
            <a:ahLst/>
            <a:cxnLst/>
            <a:rect r="r" b="b" t="t" l="l"/>
            <a:pathLst>
              <a:path h="4156822" w="9161040">
                <a:moveTo>
                  <a:pt x="0" y="0"/>
                </a:moveTo>
                <a:lnTo>
                  <a:pt x="9161039" y="0"/>
                </a:lnTo>
                <a:lnTo>
                  <a:pt x="9161039" y="4156822"/>
                </a:lnTo>
                <a:lnTo>
                  <a:pt x="0" y="4156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98027" y="1143000"/>
            <a:ext cx="7291946" cy="97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HOW TO STAY SAFE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6662" y="2936894"/>
            <a:ext cx="6159103" cy="330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7"/>
              </a:lnSpc>
              <a:spcBef>
                <a:spcPct val="0"/>
              </a:spcBef>
            </a:pPr>
            <a:r>
              <a:rPr lang="en-US" sz="3784" spc="-13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Never share OTP or password</a:t>
            </a:r>
          </a:p>
          <a:p>
            <a:pPr algn="ctr">
              <a:lnSpc>
                <a:spcPts val="5297"/>
              </a:lnSpc>
              <a:spcBef>
                <a:spcPct val="0"/>
              </a:spcBef>
            </a:pPr>
          </a:p>
          <a:p>
            <a:pPr algn="ctr">
              <a:lnSpc>
                <a:spcPts val="5297"/>
              </a:lnSpc>
              <a:spcBef>
                <a:spcPct val="0"/>
              </a:spcBef>
            </a:pPr>
            <a:r>
              <a:rPr lang="en-US" sz="3784" spc="-13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Use strong passwords</a:t>
            </a:r>
          </a:p>
          <a:p>
            <a:pPr algn="ctr">
              <a:lnSpc>
                <a:spcPts val="5297"/>
              </a:lnSpc>
              <a:spcBef>
                <a:spcPct val="0"/>
              </a:spcBef>
            </a:pPr>
          </a:p>
          <a:p>
            <a:pPr algn="ctr">
              <a:lnSpc>
                <a:spcPts val="5297"/>
              </a:lnSpc>
              <a:spcBef>
                <a:spcPct val="0"/>
              </a:spcBef>
            </a:pPr>
            <a:r>
              <a:rPr lang="en-US" sz="3784" spc="-13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Enable 2-factor authentication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99413" y="2439700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BEST PRACTICES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72238" y="3665517"/>
            <a:ext cx="5518952" cy="359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29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VERIFY LINKS BEFORE CLICKING</a:t>
            </a:r>
          </a:p>
          <a:p>
            <a:pPr algn="l">
              <a:lnSpc>
                <a:spcPts val="4110"/>
              </a:lnSpc>
            </a:pPr>
          </a:p>
          <a:p>
            <a:pPr algn="l">
              <a:lnSpc>
                <a:spcPts val="4110"/>
              </a:lnSpc>
            </a:pPr>
            <a:r>
              <a:rPr lang="en-US" sz="29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Avoid unknown attachments</a:t>
            </a:r>
          </a:p>
          <a:p>
            <a:pPr algn="l">
              <a:lnSpc>
                <a:spcPts val="4110"/>
              </a:lnSpc>
            </a:pPr>
          </a:p>
          <a:p>
            <a:pPr algn="l" marL="0" indent="0" lvl="0">
              <a:lnSpc>
                <a:spcPts val="4110"/>
              </a:lnSpc>
              <a:spcBef>
                <a:spcPct val="0"/>
              </a:spcBef>
            </a:pPr>
            <a:r>
              <a:rPr lang="en-US" sz="29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Keep software updated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46" r="0" b="-6873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98132" y="6122370"/>
            <a:ext cx="8891736" cy="4678186"/>
          </a:xfrm>
          <a:custGeom>
            <a:avLst/>
            <a:gdLst/>
            <a:ahLst/>
            <a:cxnLst/>
            <a:rect r="r" b="b" t="t" l="l"/>
            <a:pathLst>
              <a:path h="4678186" w="8891736">
                <a:moveTo>
                  <a:pt x="0" y="0"/>
                </a:moveTo>
                <a:lnTo>
                  <a:pt x="8891736" y="0"/>
                </a:lnTo>
                <a:lnTo>
                  <a:pt x="8891736" y="4678186"/>
                </a:lnTo>
                <a:lnTo>
                  <a:pt x="0" y="4678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32869" y="914400"/>
            <a:ext cx="7757474" cy="97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b="true" sz="562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QUICK QUIZ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29072" y="3032327"/>
            <a:ext cx="7226949" cy="658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  <a:spcBef>
                <a:spcPct val="0"/>
              </a:spcBef>
            </a:pPr>
            <a:r>
              <a:rPr lang="en-US" sz="4166" spc="-14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Q1: SHOULD YOU SHARE OTP?</a:t>
            </a:r>
          </a:p>
          <a:p>
            <a:pPr algn="ctr">
              <a:lnSpc>
                <a:spcPts val="5833"/>
              </a:lnSpc>
              <a:spcBef>
                <a:spcPct val="0"/>
              </a:spcBef>
            </a:pPr>
            <a:r>
              <a:rPr lang="en-US" sz="4166" spc="-14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❌ NO</a:t>
            </a:r>
          </a:p>
          <a:p>
            <a:pPr algn="ctr">
              <a:lnSpc>
                <a:spcPts val="5833"/>
              </a:lnSpc>
              <a:spcBef>
                <a:spcPct val="0"/>
              </a:spcBef>
            </a:pPr>
          </a:p>
          <a:p>
            <a:pPr algn="ctr">
              <a:lnSpc>
                <a:spcPts val="5833"/>
              </a:lnSpc>
              <a:spcBef>
                <a:spcPct val="0"/>
              </a:spcBef>
            </a:pPr>
            <a:r>
              <a:rPr lang="en-US" sz="4166" spc="-14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Q2: WHICH IS CORRECT?</a:t>
            </a:r>
          </a:p>
          <a:p>
            <a:pPr algn="ctr">
              <a:lnSpc>
                <a:spcPts val="5833"/>
              </a:lnSpc>
              <a:spcBef>
                <a:spcPct val="0"/>
              </a:spcBef>
            </a:pPr>
            <a:r>
              <a:rPr lang="en-US" sz="4166" spc="-14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AMAZ0N.COM ❌</a:t>
            </a:r>
          </a:p>
          <a:p>
            <a:pPr algn="ctr">
              <a:lnSpc>
                <a:spcPts val="5833"/>
              </a:lnSpc>
              <a:spcBef>
                <a:spcPct val="0"/>
              </a:spcBef>
            </a:pPr>
            <a:r>
              <a:rPr lang="en-US" sz="4166" spc="-14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AMAZON.COM ✅</a:t>
            </a:r>
          </a:p>
          <a:p>
            <a:pPr algn="ctr">
              <a:lnSpc>
                <a:spcPts val="5833"/>
              </a:lnSpc>
              <a:spcBef>
                <a:spcPct val="0"/>
              </a:spcBef>
            </a:pPr>
          </a:p>
          <a:p>
            <a:pPr algn="ctr">
              <a:lnSpc>
                <a:spcPts val="5833"/>
              </a:lnSpc>
              <a:spcBef>
                <a:spcPct val="0"/>
              </a:spcBef>
            </a:pPr>
            <a:r>
              <a:rPr lang="en-US" sz="4166" spc="-14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Q3: IS URGENT EMAIL SAFE?</a:t>
            </a:r>
          </a:p>
          <a:p>
            <a:pPr algn="ctr">
              <a:lnSpc>
                <a:spcPts val="5833"/>
              </a:lnSpc>
              <a:spcBef>
                <a:spcPct val="0"/>
              </a:spcBef>
            </a:pPr>
            <a:r>
              <a:rPr lang="en-US" sz="4166" spc="-14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❌ NO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46" r="0" b="-6873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98132" y="6122370"/>
            <a:ext cx="8891736" cy="4678186"/>
          </a:xfrm>
          <a:custGeom>
            <a:avLst/>
            <a:gdLst/>
            <a:ahLst/>
            <a:cxnLst/>
            <a:rect r="r" b="b" t="t" l="l"/>
            <a:pathLst>
              <a:path h="4678186" w="8891736">
                <a:moveTo>
                  <a:pt x="0" y="0"/>
                </a:moveTo>
                <a:lnTo>
                  <a:pt x="8891736" y="0"/>
                </a:lnTo>
                <a:lnTo>
                  <a:pt x="8891736" y="4678186"/>
                </a:lnTo>
                <a:lnTo>
                  <a:pt x="0" y="4678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32869" y="914400"/>
            <a:ext cx="7757474" cy="97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b="true" sz="562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8903" y="2779789"/>
            <a:ext cx="14850195" cy="627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sz="2999" spc="-10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PHISHING IS ONE</a:t>
            </a:r>
            <a:r>
              <a:rPr lang="en-US" sz="2999" spc="-10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OF THE MOST COMMON CYBER ATTACKS, BUT IT CAN BE PREVENTED WITH AWARENESS AND CAUTION.</a:t>
            </a:r>
          </a:p>
          <a:p>
            <a:pPr algn="ctr">
              <a:lnSpc>
                <a:spcPts val="4198"/>
              </a:lnSpc>
              <a:spcBef>
                <a:spcPct val="0"/>
              </a:spcBef>
            </a:pPr>
          </a:p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sz="2999" spc="-10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BY UNDERSTANDING HOW PHISHING WORKS AND RECOGNIZING WARNING SIGNS, USERS CAN PROTECT THEIR PERSONAL AND FINANCIAL INFORMATION.</a:t>
            </a:r>
          </a:p>
          <a:p>
            <a:pPr algn="ctr">
              <a:lnSpc>
                <a:spcPts val="4198"/>
              </a:lnSpc>
              <a:spcBef>
                <a:spcPct val="0"/>
              </a:spcBef>
            </a:pPr>
          </a:p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sz="2999" spc="-10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ALWAYS REMEMBER:</a:t>
            </a:r>
          </a:p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sz="2999" spc="-10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 THINK BEFORE YOU CLICK</a:t>
            </a:r>
          </a:p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sz="2999" spc="-10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 VERIFY BEFORE YOU TRUST</a:t>
            </a:r>
          </a:p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sz="2999" spc="-10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 NEVER SHARE SENSITIVE INFORMATION LIKE PASSWORDS OR OTPS</a:t>
            </a:r>
          </a:p>
          <a:p>
            <a:pPr algn="ctr">
              <a:lnSpc>
                <a:spcPts val="4198"/>
              </a:lnSpc>
              <a:spcBef>
                <a:spcPct val="0"/>
              </a:spcBef>
            </a:pPr>
          </a:p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sz="2999" spc="-10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AWARENESS IS THE FIRST STEP TO STAYING SAFE ONLINE.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DAHIgp476Nk</dc:identifier>
  <dcterms:modified xsi:type="dcterms:W3CDTF">2011-08-01T06:04:30Z</dcterms:modified>
  <cp:revision>1</cp:revision>
  <dc:title>Phishing Awareness Training Cyber Security Internship – CodeAlpha Your Name</dc:title>
</cp:coreProperties>
</file>